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that collectors are independent producers. AWS Lambda is the preferred future pattern for AWS-native collection, but it is not a hard dependency. Palo Alto, Wiz, CI/CD, Python, vendor tools, or other collectors can publish the same event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S3 as the durable decoupling boundary. Raw event metadata is stored in success/fails prefixes. Actual report files are stored separately. Ingestion validates and normalizes data into a searchable DB. The raw S3 event history provides rebuild/audit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show that the application layer is deliberately separated from collection. The Flask application consumes data and event metadata. Authentication, API, and security controls can evolve without changing collectors.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tell the complete story. A collector only needs to meet the event contract and write to the correct S3 prefix. This makes the platform extensible to future AWS collectors and completely independent external/custom collectors.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380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237"/>
                </a:solidFill>
                <a:latin typeface="Aptos Display"/>
              </a:defRPr>
            </a:pPr>
            <a:r>
              <a:t>1. AWS Data Collection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353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487"/>
                </a:solidFill>
              </a:defRPr>
            </a:pPr>
            <a:r>
              <a:t>Collectors are independent producers. Lambda is one implementation—not a requirement.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13807440" cy="6355080"/>
          </a:xfrm>
          <a:prstGeom prst="roundRect">
            <a:avLst/>
          </a:prstGeom>
          <a:solidFill>
            <a:srgbClr val="E7F1FC"/>
          </a:solidFill>
          <a:ln w="16510">
            <a:solidFill>
              <a:srgbClr val="2E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261872"/>
            <a:ext cx="135331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6CBE"/>
                </a:solidFill>
              </a:defRPr>
            </a:pPr>
            <a:r>
              <a:t>COLLECTION LAYER • PRODUCERS / COLLECTORS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4864" cy="1965960"/>
          </a:xfrm>
          <a:prstGeom prst="rect">
            <a:avLst/>
          </a:prstGeom>
          <a:solidFill>
            <a:srgbClr val="2E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AWS Collector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278892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Lambda / Step Functions</a:t>
            </a:r>
            <a:br/>
            <a:r>
              <a:t>Organizations • EC2 • VPC • SG • R53 • IAM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6459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6512" y="1645920"/>
            <a:ext cx="54864" cy="1965960"/>
          </a:xfrm>
          <a:prstGeom prst="rect">
            <a:avLst/>
          </a:prstGeom>
          <a:solidFill>
            <a:srgbClr val="28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755648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Palo Alto Collector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2121408"/>
            <a:ext cx="278892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Lambda / ECS / external runner</a:t>
            </a:r>
            <a:br/>
            <a:r>
              <a:t>Panorama API / exported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61504" y="16459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1504" y="1645920"/>
            <a:ext cx="54864" cy="196596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755648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Wiz Collector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121408"/>
            <a:ext cx="278892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Lambda / ECS / external runner</a:t>
            </a:r>
            <a:br/>
            <a:r>
              <a:t>Wiz API / Developer Console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26496" y="164592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26496" y="1645920"/>
            <a:ext cx="54864" cy="196596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91088" y="1755648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Custom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91088" y="2121408"/>
            <a:ext cx="2788920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Any approved producer</a:t>
            </a:r>
            <a:br/>
            <a:r>
              <a:t>Python • vendor tool • CI/CD • appliance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39"/>
            <a:ext cx="4754880" cy="2423160"/>
          </a:xfrm>
          <a:prstGeom prst="roundRect">
            <a:avLst/>
          </a:prstGeom>
          <a:solidFill>
            <a:srgbClr val="1E2837"/>
          </a:solidFill>
          <a:ln>
            <a:solidFill>
              <a:srgbClr val="2E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480560" cy="2221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{</a:t>
            </a:r>
            <a:br/>
            <a:r>
              <a:t>  "Name": "AWS VPC Inventory",</a:t>
            </a:r>
            <a:br/>
            <a:r>
              <a:t>  "Status": "SUCCESS",</a:t>
            </a:r>
            <a:br/>
            <a:r>
              <a:t>  "Lastrun": "2026-10-05T09:00:00Z",</a:t>
            </a:r>
            <a:br/>
            <a:r>
              <a:t>  "File": "s3://results/.../report.xlsx",</a:t>
            </a:r>
            <a:br/>
            <a:r>
              <a:t>  "File_Name": "report.xlsx",</a:t>
            </a:r>
            <a:br/>
            <a:r>
              <a:t>  "Description": "...",</a:t>
            </a:r>
            <a:br/>
            <a:r>
              <a:t>  "Run_Again_Key": "automation",</a:t>
            </a:r>
            <a:br/>
            <a:r>
              <a:t>  "Run_Again_Value": "aws-vpc"</a:t>
            </a:r>
            <a:br/>
            <a: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977639"/>
            <a:ext cx="3886200" cy="2423160"/>
          </a:xfrm>
          <a:prstGeom prst="roundRect">
            <a:avLst/>
          </a:prstGeom>
          <a:solidFill>
            <a:srgbClr val="E7F6EE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3977639"/>
            <a:ext cx="54864" cy="242316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1" y="4087368"/>
            <a:ext cx="3611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Producer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4453127"/>
            <a:ext cx="361188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Collectors publish:</a:t>
            </a:r>
            <a:br/>
            <a:r>
              <a:t>• JSON event metadata</a:t>
            </a:r>
            <a:br/>
            <a:r>
              <a:t>• success OR failure outcome</a:t>
            </a:r>
            <a:br/>
            <a:r>
              <a:t>• optional report/artifact pointer</a:t>
            </a:r>
            <a:br/>
            <a:r>
              <a:t>• optional metrics/context</a:t>
            </a:r>
            <a:br/>
            <a:r>
              <a:t>• optional approved rerun identifier</a:t>
            </a:r>
            <a:br/>
            <a:r>
              <a:t>• no dependency on Flask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3977639"/>
            <a:ext cx="3794760" cy="2423160"/>
          </a:xfrm>
          <a:prstGeom prst="roundRect">
            <a:avLst/>
          </a:prstGeom>
          <a:solidFill>
            <a:srgbClr val="F1ECFB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21240" y="3977639"/>
            <a:ext cx="54864" cy="242316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5832" y="4087368"/>
            <a:ext cx="3520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Design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5832" y="4453127"/>
            <a:ext cx="3520440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Anything that can produce the agreed JSON event can participate.</a:t>
            </a:r>
            <a:br/>
            <a:br/>
            <a:r>
              <a:t>The app does not care whether the producer is:</a:t>
            </a:r>
            <a:br/>
            <a:r>
              <a:t>Lambda, ECS, EC2, CI/CD, external Python, or another security platform.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40280" y="3639312"/>
            <a:ext cx="0" cy="27432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23560" y="3639312"/>
            <a:ext cx="0" cy="27432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88552" y="3639312"/>
            <a:ext cx="0" cy="27432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344400" y="3639312"/>
            <a:ext cx="0" cy="27432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7909560"/>
            <a:ext cx="1371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487"/>
                </a:solidFill>
              </a:defRPr>
            </a:pPr>
            <a:r>
              <a:t>Infra Intel • AWS decoupled architecture •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380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237"/>
                </a:solidFill>
                <a:latin typeface="Aptos Display"/>
              </a:defRPr>
            </a:pPr>
            <a:r>
              <a:t>2. S3 Event + Ingestion / Database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353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487"/>
                </a:solidFill>
              </a:defRPr>
            </a:pPr>
            <a:r>
              <a:t>S3 is the decoupling boundary. Event arrival triggers processing; collectors never write directly to the application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3898880" cy="6537960"/>
          </a:xfrm>
          <a:prstGeom prst="roundRect">
            <a:avLst/>
          </a:prstGeom>
          <a:solidFill>
            <a:srgbClr val="E7F1FC"/>
          </a:solidFill>
          <a:ln w="16510">
            <a:solidFill>
              <a:srgbClr val="289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136245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9BB5"/>
                </a:solidFill>
              </a:defRPr>
            </a:pPr>
            <a:r>
              <a:t>INGESTION / DATA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657600" cy="1828800"/>
          </a:xfrm>
          <a:prstGeom prst="roundRect">
            <a:avLst/>
          </a:prstGeom>
          <a:solidFill>
            <a:srgbClr val="FCF1E0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4864" cy="182880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S3 Event 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21408"/>
            <a:ext cx="3383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42237"/>
                </a:solidFill>
              </a:defRPr>
            </a:pPr>
            <a:r>
              <a:t>Raw collector completion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331720"/>
            <a:ext cx="3246120" cy="914400"/>
          </a:xfrm>
          <a:prstGeom prst="roundRect">
            <a:avLst/>
          </a:prstGeom>
          <a:solidFill>
            <a:srgbClr val="1E2837"/>
          </a:solidFill>
          <a:ln>
            <a:solidFill>
              <a:srgbClr val="DE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2441448"/>
            <a:ext cx="29718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events/</a:t>
            </a:r>
            <a:br/>
            <a:r>
              <a:t>├── automation/</a:t>
            </a:r>
            <a:br/>
            <a:r>
              <a:t>│   ├── success/</a:t>
            </a:r>
            <a:br/>
            <a:r>
              <a:t>│   └── fails/</a:t>
            </a:r>
            <a:br/>
            <a:r>
              <a:t>└── audit/</a:t>
            </a:r>
            <a:br/>
            <a:r>
              <a:t>    ├── success/</a:t>
            </a:r>
            <a:br/>
            <a:r>
              <a:t>    └── fails/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645920"/>
            <a:ext cx="2743200" cy="1828800"/>
          </a:xfrm>
          <a:prstGeom prst="roundRect">
            <a:avLst/>
          </a:prstGeom>
          <a:solidFill>
            <a:srgbClr val="E7F1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645920"/>
            <a:ext cx="54864" cy="1828800"/>
          </a:xfrm>
          <a:prstGeom prst="rect">
            <a:avLst/>
          </a:prstGeom>
          <a:solidFill>
            <a:srgbClr val="28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75564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S3 Event / 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121408"/>
            <a:ext cx="2468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42237"/>
                </a:solidFill>
              </a:defRPr>
            </a:pPr>
            <a:r>
              <a:t>ObjectCreated → ingestion 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70832" y="2560320"/>
            <a:ext cx="201168" cy="0"/>
          </a:xfrm>
          <a:prstGeom prst="line">
            <a:avLst/>
          </a:prstGeom>
          <a:ln w="22860">
            <a:solidFill>
              <a:srgbClr val="DE8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1645920"/>
            <a:ext cx="2880360" cy="1828800"/>
          </a:xfrm>
          <a:prstGeom prst="roundRect">
            <a:avLst/>
          </a:prstGeom>
          <a:solidFill>
            <a:srgbClr val="E7F6EE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645920"/>
            <a:ext cx="54864" cy="182880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755648"/>
            <a:ext cx="2606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Ingestion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2121408"/>
            <a:ext cx="26060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42237"/>
                </a:solidFill>
              </a:defRPr>
            </a:pPr>
            <a:r>
              <a:t>Lambda / Step Functions</a:t>
            </a:r>
            <a:br/>
            <a:r>
              <a:t>Validate → normalize → index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2560320"/>
            <a:ext cx="274320" cy="0"/>
          </a:xfrm>
          <a:prstGeom prst="line">
            <a:avLst/>
          </a:prstGeom>
          <a:ln w="22860">
            <a:solidFill>
              <a:srgbClr val="28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72800" y="1645920"/>
            <a:ext cx="2606040" cy="1828800"/>
          </a:xfrm>
          <a:prstGeom prst="roundRect">
            <a:avLst/>
          </a:prstGeom>
          <a:solidFill>
            <a:srgbClr val="F1ECFB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0" y="1645920"/>
            <a:ext cx="54864" cy="182880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7392" y="1755648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Data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2121408"/>
            <a:ext cx="23317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42237"/>
                </a:solidFill>
              </a:defRPr>
            </a:pPr>
            <a:r>
              <a:t>Aurora/Postgres</a:t>
            </a:r>
            <a:br/>
            <a:r>
              <a:t>or compatible DB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52760" y="2560320"/>
            <a:ext cx="274320" cy="0"/>
          </a:xfrm>
          <a:prstGeom prst="line">
            <a:avLst/>
          </a:prstGeom>
          <a:ln w="22860">
            <a:solidFill>
              <a:srgbClr val="309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3977639"/>
            <a:ext cx="3657600" cy="2240280"/>
          </a:xfrm>
          <a:prstGeom prst="roundRect">
            <a:avLst/>
          </a:prstGeom>
          <a:solidFill>
            <a:srgbClr val="FCE8EA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977639"/>
            <a:ext cx="54864" cy="224028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087368"/>
            <a:ext cx="338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Separate Results Bucket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453127"/>
            <a:ext cx="33832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42237"/>
                </a:solidFill>
              </a:defRPr>
            </a:pPr>
            <a:r>
              <a:t>Actual report/artifact storage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" y="4617720"/>
            <a:ext cx="3246120" cy="1325880"/>
          </a:xfrm>
          <a:prstGeom prst="roundRect">
            <a:avLst/>
          </a:prstGeom>
          <a:solidFill>
            <a:srgbClr val="1E2837"/>
          </a:solidFill>
          <a:ln>
            <a:solidFill>
              <a:srgbClr val="BE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" y="4727448"/>
            <a:ext cx="2971800" cy="1124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audit-results/</a:t>
            </a:r>
            <a:br/>
            <a:r>
              <a:t>├── aws-vpc-audit/</a:t>
            </a:r>
            <a:br/>
            <a:r>
              <a:t>│   └── 2026-10-05/</a:t>
            </a:r>
            <a:br/>
            <a:r>
              <a:t>│       └── audit.xlsx</a:t>
            </a:r>
            <a:br/>
            <a:r>
              <a:t>├── sg-audit/</a:t>
            </a:r>
            <a:br/>
            <a:r>
              <a:t>└── palo-policy-audit/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3977639"/>
            <a:ext cx="2743200" cy="2240280"/>
          </a:xfrm>
          <a:prstGeom prst="roundRect">
            <a:avLst/>
          </a:prstGeom>
          <a:solidFill>
            <a:srgbClr val="E7F1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3977639"/>
            <a:ext cx="54864" cy="2240280"/>
          </a:xfrm>
          <a:prstGeom prst="rect">
            <a:avLst/>
          </a:prstGeom>
          <a:solidFill>
            <a:srgbClr val="2E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82312" y="408736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Validation / Routing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4453127"/>
            <a:ext cx="24688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42237"/>
                </a:solidFill>
              </a:defRPr>
            </a:pPr>
            <a:r>
              <a:t>Status normalization</a:t>
            </a:r>
            <a:br/>
            <a:r>
              <a:t>Schema validation</a:t>
            </a:r>
            <a:br/>
            <a:r>
              <a:t>Latest-event selection</a:t>
            </a:r>
            <a:br/>
            <a:r>
              <a:t>Dead-letter/error handling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3977639"/>
            <a:ext cx="2880360" cy="2240280"/>
          </a:xfrm>
          <a:prstGeom prst="roundRect">
            <a:avLst/>
          </a:prstGeom>
          <a:solidFill>
            <a:srgbClr val="E7F6EE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6679" y="3977639"/>
            <a:ext cx="54864" cy="224028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91271" y="4087368"/>
            <a:ext cx="2606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Normalized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1" y="4453127"/>
            <a:ext cx="26060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42237"/>
                </a:solidFill>
              </a:defRPr>
            </a:pPr>
            <a:r>
              <a:t>Asset / finding / policy</a:t>
            </a:r>
            <a:br/>
            <a:r>
              <a:t>relationships</a:t>
            </a:r>
            <a:br/>
            <a:r>
              <a:t>search indexes</a:t>
            </a:r>
            <a:br/>
            <a:r>
              <a:t>metadata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0" y="3977639"/>
            <a:ext cx="2606040" cy="2240280"/>
          </a:xfrm>
          <a:prstGeom prst="roundRect">
            <a:avLst/>
          </a:prstGeom>
          <a:solidFill>
            <a:srgbClr val="F1ECFB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72800" y="3977639"/>
            <a:ext cx="54864" cy="224028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37392" y="4087368"/>
            <a:ext cx="2331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Retention / Rebuild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4453127"/>
            <a:ext cx="233172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Raw events retained in S3</a:t>
            </a:r>
            <a:br/>
            <a:r>
              <a:t>DB can be rebuilt</a:t>
            </a:r>
            <a:br/>
            <a:r>
              <a:t>stale data can be removed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370832" y="5074920"/>
            <a:ext cx="201168" cy="0"/>
          </a:xfrm>
          <a:prstGeom prst="line">
            <a:avLst/>
          </a:prstGeom>
          <a:ln w="22860">
            <a:solidFill>
              <a:srgbClr val="BE4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5074920"/>
            <a:ext cx="274320" cy="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52760" y="5074920"/>
            <a:ext cx="274320" cy="0"/>
          </a:xfrm>
          <a:prstGeom prst="line">
            <a:avLst/>
          </a:prstGeom>
          <a:ln w="22860">
            <a:solidFill>
              <a:srgbClr val="309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7909560"/>
            <a:ext cx="1371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487"/>
                </a:solidFill>
              </a:defRPr>
            </a:pPr>
            <a:r>
              <a:t>Infra Intel • AWS decoupled architecture •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380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237"/>
                </a:solidFill>
                <a:latin typeface="Aptos Display"/>
              </a:defRPr>
            </a:pPr>
            <a:r>
              <a:t>3. Application Infrastructure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353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487"/>
                </a:solidFill>
              </a:defRPr>
            </a:pPr>
            <a:r>
              <a:t>The application is a consumer of normalized data and event metadata—not the owner of collection.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3898880" cy="6537960"/>
          </a:xfrm>
          <a:prstGeom prst="roundRect">
            <a:avLst/>
          </a:prstGeom>
          <a:solidFill>
            <a:srgbClr val="E7F1FC"/>
          </a:solidFill>
          <a:ln w="16510">
            <a:solidFill>
              <a:srgbClr val="2E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16152"/>
            <a:ext cx="136245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6CBE"/>
                </a:solidFill>
              </a:defRPr>
            </a:pPr>
            <a:r>
              <a:t>PRIVATE APPLICATION / ANALYST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743200" cy="1920240"/>
          </a:xfrm>
          <a:prstGeom prst="roundRect">
            <a:avLst/>
          </a:prstGeom>
          <a:solidFill>
            <a:srgbClr val="E7F1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54864" cy="1920240"/>
          </a:xfrm>
          <a:prstGeom prst="rect">
            <a:avLst/>
          </a:prstGeom>
          <a:solidFill>
            <a:srgbClr val="2E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Private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2468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42237"/>
                </a:solidFill>
              </a:defRPr>
            </a:pPr>
            <a:r>
              <a:t>ALB / API Gateway</a:t>
            </a:r>
            <a:br/>
            <a:r>
              <a:t>Entra SSO / authentication</a:t>
            </a:r>
            <a:br/>
            <a:r>
              <a:t>Private VPC endpoint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00200"/>
            <a:ext cx="2743200" cy="1920240"/>
          </a:xfrm>
          <a:prstGeom prst="roundRect">
            <a:avLst/>
          </a:prstGeom>
          <a:solidFill>
            <a:srgbClr val="E7F1FC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60" y="1600200"/>
            <a:ext cx="54864" cy="1920240"/>
          </a:xfrm>
          <a:prstGeom prst="rect">
            <a:avLst/>
          </a:prstGeom>
          <a:solidFill>
            <a:srgbClr val="28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70992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Flask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075688"/>
            <a:ext cx="2468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>
                <a:solidFill>
                  <a:srgbClr val="142237"/>
                </a:solidFill>
              </a:defRPr>
            </a:pPr>
            <a:r>
              <a:t>Search &amp; Investigate</a:t>
            </a:r>
            <a:br/>
            <a:r>
              <a:t>Firewall Policy Lookup</a:t>
            </a:r>
            <a:br/>
            <a:r>
              <a:t>Palo Alto Object Search</a:t>
            </a:r>
            <a:br/>
            <a:r>
              <a:t>Wiz Policy 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2560320"/>
            <a:ext cx="274319" cy="0"/>
          </a:xfrm>
          <a:prstGeom prst="line">
            <a:avLst/>
          </a:prstGeom>
          <a:ln w="22860">
            <a:solidFill>
              <a:srgbClr val="2E6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1600200"/>
            <a:ext cx="2743200" cy="1920240"/>
          </a:xfrm>
          <a:prstGeom prst="roundRect">
            <a:avLst/>
          </a:prstGeom>
          <a:solidFill>
            <a:srgbClr val="FCF1E0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600200"/>
            <a:ext cx="54864" cy="192024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1709928"/>
            <a:ext cx="2468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Automation / Audit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075688"/>
            <a:ext cx="24688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Automation Results</a:t>
            </a:r>
            <a:br/>
            <a:r>
              <a:t>Audit / Reporting</a:t>
            </a:r>
            <a:br/>
            <a:r>
              <a:t>Run Again via approved key/value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0" y="2560320"/>
            <a:ext cx="274320" cy="0"/>
          </a:xfrm>
          <a:prstGeom prst="line">
            <a:avLst/>
          </a:prstGeom>
          <a:ln w="22860">
            <a:solidFill>
              <a:srgbClr val="289B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80" y="1600200"/>
            <a:ext cx="3474720" cy="1920240"/>
          </a:xfrm>
          <a:prstGeom prst="roundRect">
            <a:avLst/>
          </a:prstGeom>
          <a:solidFill>
            <a:srgbClr val="E7F6EE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12680" y="1600200"/>
            <a:ext cx="54864" cy="192024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77272" y="1709928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API / Service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2075688"/>
            <a:ext cx="32004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Optional REST/API surface</a:t>
            </a:r>
            <a:br/>
            <a:r>
              <a:t>SSO-friendly</a:t>
            </a:r>
            <a:br/>
            <a:r>
              <a:t>Future integrations / workflows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560320"/>
            <a:ext cx="274320" cy="0"/>
          </a:xfrm>
          <a:prstGeom prst="line">
            <a:avLst/>
          </a:prstGeom>
          <a:ln w="22860">
            <a:solidFill>
              <a:srgbClr val="DE8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28800" y="4251960"/>
            <a:ext cx="2834640" cy="1508760"/>
          </a:xfrm>
          <a:prstGeom prst="roundRect">
            <a:avLst/>
          </a:prstGeom>
          <a:solidFill>
            <a:srgbClr val="F1ECFB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4251960"/>
            <a:ext cx="54864" cy="150876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4361688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DB / Search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4727448"/>
            <a:ext cx="256032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Aurora/Postgres</a:t>
            </a:r>
            <a:br/>
            <a:r>
              <a:t>or current SQLite during local phase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251960"/>
            <a:ext cx="2834640" cy="1508760"/>
          </a:xfrm>
          <a:prstGeom prst="roundRect">
            <a:avLst/>
          </a:prstGeom>
          <a:solidFill>
            <a:srgbClr val="FCF1E0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77840" y="4251960"/>
            <a:ext cx="54864" cy="150876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1" y="4361688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S3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431" y="4727448"/>
            <a:ext cx="256032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Automation + Audit event metadata</a:t>
            </a:r>
            <a:br/>
            <a:r>
              <a:t>Success / fails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4251960"/>
            <a:ext cx="2834640" cy="1508760"/>
          </a:xfrm>
          <a:prstGeom prst="roundRect">
            <a:avLst/>
          </a:prstGeom>
          <a:solidFill>
            <a:srgbClr val="FCE8EA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0" y="4251960"/>
            <a:ext cx="54864" cy="150876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4361688"/>
            <a:ext cx="2560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S3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727448"/>
            <a:ext cx="256032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Presigned HTTPS report links</a:t>
            </a:r>
            <a:br/>
            <a:r>
              <a:t>Latest audit artifacts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246120" y="3657600"/>
            <a:ext cx="1920240" cy="530352"/>
          </a:xfrm>
          <a:prstGeom prst="line">
            <a:avLst/>
          </a:prstGeom>
          <a:ln w="22860">
            <a:solidFill>
              <a:srgbClr val="755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995160" y="3566160"/>
            <a:ext cx="1188719" cy="621792"/>
          </a:xfrm>
          <a:prstGeom prst="line">
            <a:avLst/>
          </a:prstGeom>
          <a:ln w="22860">
            <a:solidFill>
              <a:srgbClr val="DE8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744200" y="3566160"/>
            <a:ext cx="228600" cy="621792"/>
          </a:xfrm>
          <a:prstGeom prst="line">
            <a:avLst/>
          </a:prstGeom>
          <a:ln w="22860">
            <a:solidFill>
              <a:srgbClr val="BE4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828800" y="6080760"/>
            <a:ext cx="10332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0" y="6080760"/>
            <a:ext cx="54864" cy="96012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3392" y="6190488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Security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93392" y="6556248"/>
            <a:ext cx="10058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42237"/>
                </a:solidFill>
              </a:defRPr>
            </a:pPr>
            <a:r>
              <a:t>IAM least privilege • KMS encryption • private subnets • CloudTrail • Secrets Manager/SSM • SSO • no collector-to-DB credentials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7909560"/>
            <a:ext cx="1371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487"/>
                </a:solidFill>
              </a:defRPr>
            </a:pPr>
            <a:r>
              <a:t>Infra Intel • AWS decoupled architecture •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380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237"/>
                </a:solidFill>
                <a:latin typeface="Aptos Display"/>
              </a:defRPr>
            </a:pPr>
            <a:r>
              <a:t>4. Complete Decoupled AWS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353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487"/>
                </a:solidFill>
              </a:defRPr>
            </a:pPr>
            <a:r>
              <a:t>Any approved collector can enter the same pipeline by producing the agreed JSON event.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240280" cy="6263640"/>
          </a:xfrm>
          <a:prstGeom prst="roundRect">
            <a:avLst/>
          </a:prstGeom>
          <a:solidFill>
            <a:srgbClr val="E7F1FC"/>
          </a:solidFill>
          <a:ln w="16510">
            <a:solidFill>
              <a:srgbClr val="2E6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216152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6CBE"/>
                </a:solidFill>
              </a:defRPr>
            </a:pPr>
            <a:r>
              <a:t>PRODUCERS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43000"/>
            <a:ext cx="2240280" cy="6263640"/>
          </a:xfrm>
          <a:prstGeom prst="roundRect">
            <a:avLst/>
          </a:prstGeom>
          <a:solidFill>
            <a:srgbClr val="FCF1E0"/>
          </a:solidFill>
          <a:ln w="16510">
            <a:solidFill>
              <a:srgbClr val="DE8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216152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E8B35"/>
                </a:solidFill>
              </a:defRPr>
            </a:pPr>
            <a:r>
              <a:t>EVENT / OBJECT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143000"/>
            <a:ext cx="2240280" cy="6263640"/>
          </a:xfrm>
          <a:prstGeom prst="roundRect">
            <a:avLst/>
          </a:prstGeom>
          <a:solidFill>
            <a:srgbClr val="E7F6EE"/>
          </a:solidFill>
          <a:ln w="16510">
            <a:solidFill>
              <a:srgbClr val="309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2704" y="1216152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09B67"/>
                </a:solidFill>
              </a:defRPr>
            </a:pPr>
            <a:r>
              <a:t>INGESTION /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143000"/>
            <a:ext cx="2240280" cy="6263640"/>
          </a:xfrm>
          <a:prstGeom prst="roundRect">
            <a:avLst/>
          </a:prstGeom>
          <a:solidFill>
            <a:srgbClr val="F1ECFB"/>
          </a:solidFill>
          <a:ln w="16510">
            <a:solidFill>
              <a:srgbClr val="755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216152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556B4"/>
                </a:solidFill>
              </a:defRPr>
            </a:pPr>
            <a: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92840" y="1143000"/>
            <a:ext cx="2240280" cy="6263640"/>
          </a:xfrm>
          <a:prstGeom prst="roundRect">
            <a:avLst/>
          </a:prstGeom>
          <a:solidFill>
            <a:srgbClr val="FCE8EA"/>
          </a:solidFill>
          <a:ln w="16510">
            <a:solidFill>
              <a:srgbClr val="BE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9144" y="1216152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E464B"/>
                </a:solidFill>
              </a:defRPr>
            </a:pPr>
            <a:r>
              <a:t>SECURITY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6459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1645920"/>
            <a:ext cx="54864" cy="868680"/>
          </a:xfrm>
          <a:prstGeom prst="rect">
            <a:avLst/>
          </a:prstGeom>
          <a:solidFill>
            <a:srgbClr val="2E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175564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AWS /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121408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42237"/>
                </a:solidFill>
              </a:defRPr>
            </a:pPr>
            <a:r>
              <a:t>Cloud inventory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7180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2971800"/>
            <a:ext cx="54864" cy="868680"/>
          </a:xfrm>
          <a:prstGeom prst="rect">
            <a:avLst/>
          </a:prstGeom>
          <a:solidFill>
            <a:srgbClr val="28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08152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Palo Alto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447288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42237"/>
                </a:solidFill>
              </a:defRPr>
            </a:pPr>
            <a:r>
              <a:t>Panorama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9768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97680"/>
            <a:ext cx="54864" cy="86868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40740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Wiz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773168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42237"/>
                </a:solidFill>
              </a:defRPr>
            </a:pPr>
            <a:r>
              <a:t>Findings /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62356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623560"/>
            <a:ext cx="54864" cy="86868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73328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Anything 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6099048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142237"/>
                </a:solidFill>
              </a:defRPr>
            </a:pPr>
            <a:r>
              <a:t>Python / CI/CD / vendor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07792" y="164592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07792" y="1645920"/>
            <a:ext cx="54864" cy="123444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2384" y="1755648"/>
            <a:ext cx="16001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Event Bucket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2384" y="2121408"/>
            <a:ext cx="16001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automation/</a:t>
            </a:r>
            <a:br/>
            <a:r>
              <a:t>success • fails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07792" y="31546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7792" y="3154680"/>
            <a:ext cx="54864" cy="123444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72384" y="3264408"/>
            <a:ext cx="16001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Audit Events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2384" y="3630168"/>
            <a:ext cx="16001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audit/</a:t>
            </a:r>
            <a:br/>
            <a:r>
              <a:t>success • fails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07792" y="466344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07792" y="4663440"/>
            <a:ext cx="54864" cy="123444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2384" y="4773168"/>
            <a:ext cx="16001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Report Bucket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2384" y="5138927"/>
            <a:ext cx="160019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audit-type/date/</a:t>
            </a:r>
            <a:br/>
            <a:r>
              <a:t>artifact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87568" y="164592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87568" y="1645920"/>
            <a:ext cx="54864" cy="123444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59" y="175564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Trigger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59" y="2121408"/>
            <a:ext cx="1554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S3 ObjectCreated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87568" y="315468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87568" y="3154680"/>
            <a:ext cx="54864" cy="1234440"/>
          </a:xfrm>
          <a:prstGeom prst="rect">
            <a:avLst/>
          </a:prstGeom>
          <a:solidFill>
            <a:srgbClr val="28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59" y="32644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Validate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59" y="3630168"/>
            <a:ext cx="1554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schema + status</a:t>
            </a:r>
            <a:br/>
            <a:r>
              <a:t>+ security checks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87568" y="4663440"/>
            <a:ext cx="1828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87568" y="4663440"/>
            <a:ext cx="54864" cy="123444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59" y="477316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Persist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59" y="5138927"/>
            <a:ext cx="1554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normalize + index</a:t>
            </a:r>
            <a:br/>
            <a:r>
              <a:t>DB/search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13648" y="164592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13648" y="1645920"/>
            <a:ext cx="54864" cy="1143000"/>
          </a:xfrm>
          <a:prstGeom prst="rect">
            <a:avLst/>
          </a:prstGeom>
          <a:solidFill>
            <a:srgbClr val="2E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175564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Search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2121408"/>
            <a:ext cx="1554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Cross-domain</a:t>
            </a:r>
            <a:br/>
            <a:r>
              <a:t>investigation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13648" y="306324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13648" y="3063240"/>
            <a:ext cx="54864" cy="1143000"/>
          </a:xfrm>
          <a:prstGeom prst="rect">
            <a:avLst/>
          </a:prstGeom>
          <a:solidFill>
            <a:srgbClr val="309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317296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Findings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3538728"/>
            <a:ext cx="1554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Wiz / policy</a:t>
            </a:r>
            <a:br/>
            <a:r>
              <a:t>context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13648" y="4480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13648" y="4480560"/>
            <a:ext cx="54864" cy="1143000"/>
          </a:xfrm>
          <a:prstGeom prst="rect">
            <a:avLst/>
          </a:prstGeom>
          <a:solidFill>
            <a:srgbClr val="DE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459028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Operations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4956048"/>
            <a:ext cx="15544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Automation / Audit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13648" y="5897880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13648" y="5897880"/>
            <a:ext cx="54864" cy="868680"/>
          </a:xfrm>
          <a:prstGeom prst="rect">
            <a:avLst/>
          </a:prstGeom>
          <a:solidFill>
            <a:srgbClr val="755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600760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API / SSO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78240" y="6373368"/>
            <a:ext cx="15544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42237"/>
                </a:solidFill>
              </a:defRPr>
            </a:pPr>
            <a:r>
              <a:t>Future integrations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539728" y="1828800"/>
            <a:ext cx="1737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39728" y="1828800"/>
            <a:ext cx="54864" cy="100584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04319" y="193852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SOC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704319" y="2304288"/>
            <a:ext cx="1463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Investigate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539728" y="3291840"/>
            <a:ext cx="1737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539728" y="3291840"/>
            <a:ext cx="54864" cy="100584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704319" y="340156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Cloud Sec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704319" y="3767328"/>
            <a:ext cx="1463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Correlate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539728" y="4754880"/>
            <a:ext cx="17373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539728" y="4754880"/>
            <a:ext cx="54864" cy="100584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704319" y="486460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Network Sec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04319" y="5230368"/>
            <a:ext cx="1463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42237"/>
                </a:solidFill>
              </a:defRPr>
            </a:pPr>
            <a:r>
              <a:t>Policy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539728" y="6126480"/>
            <a:ext cx="1737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539728" y="6126480"/>
            <a:ext cx="54864" cy="685800"/>
          </a:xfrm>
          <a:prstGeom prst="rect">
            <a:avLst/>
          </a:prstGeom>
          <a:solidFill>
            <a:srgbClr val="BE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704319" y="6236208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237"/>
                </a:solidFill>
              </a:defRPr>
            </a:pPr>
            <a:r>
              <a:t>Audit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704319" y="6601968"/>
            <a:ext cx="146303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42237"/>
                </a:solidFill>
              </a:defRPr>
            </a:pPr>
            <a:r>
              <a:t>Evidence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651760" y="2057400"/>
            <a:ext cx="182880" cy="0"/>
          </a:xfrm>
          <a:prstGeom prst="line">
            <a:avLst/>
          </a:prstGeom>
          <a:ln w="22860">
            <a:solidFill>
              <a:srgbClr val="66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651760" y="3383280"/>
            <a:ext cx="182880" cy="0"/>
          </a:xfrm>
          <a:prstGeom prst="line">
            <a:avLst/>
          </a:prstGeom>
          <a:ln w="22860">
            <a:solidFill>
              <a:srgbClr val="66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651760" y="5074920"/>
            <a:ext cx="182880" cy="0"/>
          </a:xfrm>
          <a:prstGeom prst="line">
            <a:avLst/>
          </a:prstGeom>
          <a:ln w="22860">
            <a:solidFill>
              <a:srgbClr val="66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51760" y="5989320"/>
            <a:ext cx="182880" cy="0"/>
          </a:xfrm>
          <a:prstGeom prst="line">
            <a:avLst/>
          </a:prstGeom>
          <a:ln w="22860">
            <a:solidFill>
              <a:srgbClr val="66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800600" y="2240280"/>
            <a:ext cx="822960" cy="0"/>
          </a:xfrm>
          <a:prstGeom prst="line">
            <a:avLst/>
          </a:prstGeom>
          <a:ln w="22860">
            <a:solidFill>
              <a:srgbClr val="DE8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800600" y="3749039"/>
            <a:ext cx="822960" cy="0"/>
          </a:xfrm>
          <a:prstGeom prst="line">
            <a:avLst/>
          </a:prstGeom>
          <a:ln w="22860">
            <a:solidFill>
              <a:srgbClr val="BE4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800600" y="5257800"/>
            <a:ext cx="822960" cy="0"/>
          </a:xfrm>
          <a:prstGeom prst="line">
            <a:avLst/>
          </a:prstGeom>
          <a:ln w="22860">
            <a:solidFill>
              <a:srgbClr val="BE4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43800" y="2240280"/>
            <a:ext cx="1005840" cy="0"/>
          </a:xfrm>
          <a:prstGeom prst="line">
            <a:avLst/>
          </a:prstGeom>
          <a:ln w="22860">
            <a:solidFill>
              <a:srgbClr val="309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43800" y="3749039"/>
            <a:ext cx="1005840" cy="0"/>
          </a:xfrm>
          <a:prstGeom prst="line">
            <a:avLst/>
          </a:prstGeom>
          <a:ln w="22860">
            <a:solidFill>
              <a:srgbClr val="309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543800" y="5257800"/>
            <a:ext cx="1005840" cy="0"/>
          </a:xfrm>
          <a:prstGeom prst="line">
            <a:avLst/>
          </a:prstGeom>
          <a:ln w="22860">
            <a:solidFill>
              <a:srgbClr val="309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469880" y="2240280"/>
            <a:ext cx="1005840" cy="0"/>
          </a:xfrm>
          <a:prstGeom prst="line">
            <a:avLst/>
          </a:prstGeom>
          <a:ln w="22860">
            <a:solidFill>
              <a:srgbClr val="755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469880" y="3657600"/>
            <a:ext cx="1005840" cy="0"/>
          </a:xfrm>
          <a:prstGeom prst="line">
            <a:avLst/>
          </a:prstGeom>
          <a:ln w="22860">
            <a:solidFill>
              <a:srgbClr val="755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469880" y="4983480"/>
            <a:ext cx="1005840" cy="0"/>
          </a:xfrm>
          <a:prstGeom prst="line">
            <a:avLst/>
          </a:prstGeom>
          <a:ln w="22860">
            <a:solidFill>
              <a:srgbClr val="755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658368" y="6720840"/>
            <a:ext cx="12801600" cy="822960"/>
          </a:xfrm>
          <a:prstGeom prst="roundRect">
            <a:avLst/>
          </a:prstGeom>
          <a:solidFill>
            <a:srgbClr val="1E2837"/>
          </a:solidFill>
          <a:ln>
            <a:solidFill>
              <a:srgbClr val="14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4672" y="6830568"/>
            <a:ext cx="12527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>
                <a:solidFill>
                  <a:srgbClr val="FFFFFF"/>
                </a:solidFill>
                <a:latin typeface="Consolas"/>
              </a:defRPr>
            </a:pPr>
            <a:r>
              <a:t>COLLECTOR CONTRACT: JSON event → S3 event prefix → S3 notification → validation/normalization → DB/search + UI</a:t>
            </a:r>
            <a:br/>
            <a:r>
              <a:t>The collector never needs to know how Infra Intel stores, indexes, displays, or reports the data.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7909560"/>
            <a:ext cx="1371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487"/>
                </a:solidFill>
              </a:defRPr>
            </a:pPr>
            <a:r>
              <a:t>Infra Intel • AWS decoupled architecture •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