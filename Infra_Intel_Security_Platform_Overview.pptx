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platform as an analyst-focused security intelligence layer, not another replacement security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core problem: security context is fragmented across cloud, firewall, and security finding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platform's role: normalize and correlate existing data while keeping collection and presentation decoupled.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representative investigation from an IP address to AWS ownership, network policy, and Wiz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dedicated investigation pages and how they reduce repetitive cross-system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Wiz design principle: filter choices are available immediately, but large result sets are not rendered until the analyst searches.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event-driven operational visibility: automation state and audit evidence become first-class security workflow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architecture and why the local design maps cleanly to S3, Lambda/Step Functions, and a future private application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platform can evolve underneath the analyst experience rather than requiring a wholesale UI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outcomes: faster investigations, less tool hopping, stronger operational visibility, and a foundation for approved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640080"/>
            <a:ext cx="2377440" cy="914400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1783080"/>
            <a:ext cx="1645920" cy="640080"/>
          </a:xfrm>
          <a:prstGeom prst="round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0" y="1965960"/>
            <a:ext cx="1005840" cy="640080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863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ptos Display"/>
              </a:defRPr>
            </a:pPr>
            <a:r>
              <a:t>Infrastructure</a:t>
            </a:r>
            <a:br/>
            <a:r>
              <a:t>Intelligence</a:t>
            </a:r>
          </a:p>
          <a:p>
            <a:pPr>
              <a:spcBef>
                <a:spcPts val="1400"/>
              </a:spcBef>
              <a:defRPr sz="1900">
                <a:solidFill>
                  <a:srgbClr val="CDD9E8"/>
                </a:solidFill>
                <a:latin typeface="Aptos"/>
              </a:defRPr>
            </a:pPr>
            <a:r>
              <a:t>A security intelligence platform for connecting cloud, network, findings, automation and audit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4069080"/>
            <a:ext cx="150876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10565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4069080"/>
            <a:ext cx="1737360" cy="329184"/>
          </a:xfrm>
          <a:prstGeom prst="round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410565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PALO ALTO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4069080"/>
            <a:ext cx="123444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4105656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WIZ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1848" y="4069080"/>
            <a:ext cx="1783080" cy="329184"/>
          </a:xfrm>
          <a:prstGeom prst="round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4105656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4069080"/>
            <a:ext cx="1188720" cy="329184"/>
          </a:xfrm>
          <a:prstGeom prst="round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410565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897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19EAF"/>
                </a:solidFill>
              </a:defRPr>
            </a:pPr>
            <a:r>
              <a:t>Security audience overview • v21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B5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The problem: security data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The question is rarely “what does this tool say?” — it is “what does everything say about this asset?”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☁  Cloud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29968"/>
            <a:ext cx="29992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Accounts • OUs • VPCs • ENIs • IPs • Security 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64008" cy="1828800"/>
          </a:xfrm>
          <a:prstGeom prst="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▤  Network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8"/>
            <a:ext cx="29992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Palo Alto objects • groups • services • rules • DNS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417320"/>
            <a:ext cx="33832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1417320"/>
            <a:ext cx="64008" cy="182880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✓  Security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29968"/>
            <a:ext cx="29992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Wiz findings • controls • severity • affected resources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2331720"/>
            <a:ext cx="365761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44968" y="2331720"/>
            <a:ext cx="374904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43000" y="3977639"/>
            <a:ext cx="9921240" cy="1417320"/>
          </a:xfrm>
          <a:prstGeom prst="roundRect">
            <a:avLst/>
          </a:prstGeom>
          <a:solidFill>
            <a:srgbClr val="F9EAD5"/>
          </a:solidFill>
          <a:ln>
            <a:solidFill>
              <a:srgbClr val="ED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279392"/>
            <a:ext cx="9235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D182A"/>
                </a:solidFill>
              </a:defRPr>
            </a:pPr>
            <a:r>
              <a:t>Result: analysts spend time pivoting between systems instead of investigating the security question.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The platform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AD5E4"/>
                </a:solidFill>
                <a:latin typeface="Aptos"/>
              </a:defRPr>
            </a:pPr>
            <a:r>
              <a:t>A common investigation layer over existing security and infrastructure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965960"/>
            <a:ext cx="3017520" cy="18288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1965960"/>
            <a:ext cx="64008" cy="182880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2312" y="2130552"/>
            <a:ext cx="2633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INFRA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2578608"/>
            <a:ext cx="26334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Search • correlate • investigate</a:t>
            </a:r>
            <a:br/>
            <a:r>
              <a:t>Operate • audit •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18288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64008" cy="114300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599431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047488"/>
            <a:ext cx="14447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Accounts / resources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554480" y="3840480"/>
            <a:ext cx="4526280" cy="548640"/>
          </a:xfrm>
          <a:prstGeom prst="line">
            <a:avLst/>
          </a:prstGeom>
          <a:ln w="27940">
            <a:solidFill>
              <a:srgbClr val="266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88920" y="4434840"/>
            <a:ext cx="18288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4434840"/>
            <a:ext cx="64008" cy="1143000"/>
          </a:xfrm>
          <a:prstGeom prst="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4599431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Palo 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047488"/>
            <a:ext cx="14447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Policy / objects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03320" y="3840480"/>
            <a:ext cx="2377440" cy="548640"/>
          </a:xfrm>
          <a:prstGeom prst="line">
            <a:avLst/>
          </a:prstGeom>
          <a:ln w="27940">
            <a:solidFill>
              <a:srgbClr val="2DA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4434840"/>
            <a:ext cx="18288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4434840"/>
            <a:ext cx="64008" cy="114300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2" y="4599431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Wiz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5047488"/>
            <a:ext cx="14447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Findings / controls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6080760" y="3840480"/>
            <a:ext cx="2651760" cy="548640"/>
          </a:xfrm>
          <a:prstGeom prst="line">
            <a:avLst/>
          </a:prstGeom>
          <a:ln w="27940">
            <a:solidFill>
              <a:srgbClr val="2A9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66960" y="4434840"/>
            <a:ext cx="18288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66960" y="4434840"/>
            <a:ext cx="64008" cy="1143000"/>
          </a:xfrm>
          <a:prstGeom prst="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77272" y="4599431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5047488"/>
            <a:ext cx="14447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Automation / audits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80760" y="3840480"/>
            <a:ext cx="4800600" cy="548640"/>
          </a:xfrm>
          <a:prstGeom prst="line">
            <a:avLst/>
          </a:prstGeom>
          <a:ln w="27940">
            <a:solidFill>
              <a:srgbClr val="E0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" y="1188720"/>
            <a:ext cx="2011680" cy="6858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1188720"/>
            <a:ext cx="64008" cy="68580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135331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" y="1801368"/>
            <a:ext cx="1627632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IP / CIDR / 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1188720"/>
            <a:ext cx="2011680" cy="6858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1188720"/>
            <a:ext cx="64008" cy="685800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2" y="135331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1801368"/>
            <a:ext cx="1627632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Reports / artifacts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B5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3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One investigation can cross multiple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Example: start with an IP address and quickly move from cloud ownership to policy to finding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011680"/>
            <a:ext cx="45720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4825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82A"/>
                </a:solidFill>
              </a:defRPr>
            </a:pPr>
            <a:r>
              <a:t>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99232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B3C"/>
                </a:solidFill>
              </a:defRPr>
            </a:pPr>
            <a:r>
              <a:t>10.20.14.25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675887"/>
            <a:ext cx="105156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712463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IP / CIDR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944368"/>
            <a:ext cx="411480" cy="0"/>
          </a:xfrm>
          <a:prstGeom prst="line">
            <a:avLst/>
          </a:prstGeom>
          <a:ln w="27940">
            <a:solidFill>
              <a:srgbClr val="266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33172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9312" y="2011680"/>
            <a:ext cx="45720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04825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5146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82A"/>
                </a:solidFill>
              </a:defRPr>
            </a:pPr>
            <a:r>
              <a:t>Correlate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999232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B3C"/>
                </a:solidFill>
              </a:defRPr>
            </a:pPr>
            <a:r>
              <a:t>AWS account + VPC + ENI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3675887"/>
            <a:ext cx="1051560" cy="329184"/>
          </a:xfrm>
          <a:prstGeom prst="round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712463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Cloud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2" y="2944368"/>
            <a:ext cx="411480" cy="0"/>
          </a:xfrm>
          <a:prstGeom prst="line">
            <a:avLst/>
          </a:prstGeom>
          <a:ln w="27940">
            <a:solidFill>
              <a:srgbClr val="266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72784" y="1828800"/>
            <a:ext cx="233172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55664" y="2011680"/>
            <a:ext cx="45720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04825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5146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82A"/>
                </a:solidFill>
              </a:defRPr>
            </a:pPr>
            <a: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99232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B3C"/>
                </a:solidFill>
              </a:defRPr>
            </a:pPr>
            <a:r>
              <a:t>Security Groups + Palo objects/rules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3675887"/>
            <a:ext cx="105156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712463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Network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04504" y="2944368"/>
            <a:ext cx="411480" cy="0"/>
          </a:xfrm>
          <a:prstGeom prst="line">
            <a:avLst/>
          </a:prstGeom>
          <a:ln w="27940">
            <a:solidFill>
              <a:srgbClr val="266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89136" y="1828800"/>
            <a:ext cx="233172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72015" y="2011680"/>
            <a:ext cx="45720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5" y="204825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5" y="25146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82A"/>
                </a:solidFill>
              </a:defRPr>
            </a:pPr>
            <a: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5" y="2999232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B3C"/>
                </a:solidFill>
              </a:defRPr>
            </a:pPr>
            <a:r>
              <a:t>Wiz policy / finding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72015" y="3675887"/>
            <a:ext cx="1051560" cy="329184"/>
          </a:xfrm>
          <a:prstGeom prst="round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5" y="3712463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82A"/>
                </a:solidFill>
              </a:defRPr>
            </a:pPr>
            <a:r>
              <a:t>The goal is not to replace source systems. It is to make the relationships between them easier to see.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Investigation and policy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Purpose-built views for the questions security teams ask repeatedly.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64592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Search &amp; Investigate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478231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IP/CIDR, EC2, ENI, SG, DNS/R53 and cross-domain relationships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645920"/>
          </a:xfrm>
          <a:prstGeom prst="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819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Firewall Policy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29968"/>
            <a:ext cx="478231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Source/destination + optional port; allowed/denied policy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39"/>
            <a:ext cx="51663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0439"/>
            <a:ext cx="64008" cy="1645920"/>
          </a:xfrm>
          <a:prstGeom prst="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85031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Palo Alto Object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33087"/>
            <a:ext cx="478231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Addresses, groups, services, applications and custom URLs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39"/>
            <a:ext cx="51663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39"/>
            <a:ext cx="64008" cy="164592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85031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AWS 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33087"/>
            <a:ext cx="478231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Account / OU topology, owners and tags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5715000"/>
            <a:ext cx="3520440" cy="329184"/>
          </a:xfrm>
          <a:prstGeom prst="round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5751576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SERVER-RENDERED • NO BROWSER JS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Wiz: findings with useful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The page keeps the UI lightweight while still making the filter experience fast and practical.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4526280"/>
          </a:xfrm>
          <a:prstGeom prst="roundRect">
            <a:avLst/>
          </a:prstGeom>
          <a:solidFill>
            <a:srgbClr val="F6F8FB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EAF"/>
                </a:solidFill>
              </a:defRPr>
            </a:pPr>
            <a:r>
              <a:t>AWS 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938528"/>
            <a:ext cx="2240280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B3C"/>
                </a:solidFill>
              </a:defRPr>
            </a:pPr>
            <a: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EAF"/>
                </a:solidFill>
              </a:defRPr>
            </a:pPr>
            <a:r>
              <a:t>AWS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38528"/>
            <a:ext cx="2240280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B3C"/>
                </a:solidFill>
              </a:defRPr>
            </a:pPr>
            <a:r>
              <a:t>server-prod-01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4592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EAF"/>
                </a:solidFill>
              </a:defRPr>
            </a:pPr>
            <a:r>
              <a:t>Wiz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38528"/>
            <a:ext cx="2240280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B3C"/>
                </a:solidFill>
              </a:defRPr>
            </a:pPr>
            <a:r>
              <a:t>Open Security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4592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EAF"/>
                </a:solidFill>
              </a:defRPr>
            </a:pPr>
            <a:r>
              <a:t>Security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938528"/>
            <a:ext cx="2240280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B3C"/>
                </a:solidFill>
              </a:defRPr>
            </a:pPr>
            <a:r>
              <a:t>sg-0abc123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788920"/>
            <a:ext cx="100126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2788920"/>
            <a:ext cx="64008" cy="1051560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2953512"/>
            <a:ext cx="9628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401568"/>
            <a:ext cx="962863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Security Group • sg-0abc123  |  Severity: High  |  Control: Publicly accessible ingress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096512"/>
            <a:ext cx="100126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4096512"/>
            <a:ext cx="64008" cy="105156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261104"/>
            <a:ext cx="9628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AWS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09160"/>
            <a:ext cx="962863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Account: server-prod-01  |  OU: Production  |  Region: us-east-1  |  Provider ARN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413248"/>
            <a:ext cx="233172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49824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FILTERS PRE-POPULATED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5413248"/>
            <a:ext cx="2880360" cy="329184"/>
          </a:xfrm>
          <a:prstGeom prst="round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5449824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RESULTS ONLY AFTER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Automation and audit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Operational visibility becomes part of the same security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611880"/>
          </a:xfrm>
          <a:prstGeom prst="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Automation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4782312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Current execution state for recurring security/infrastructure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240280"/>
            <a:ext cx="960120" cy="329184"/>
          </a:xfrm>
          <a:prstGeom prst="round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76856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1" y="2240280"/>
            <a:ext cx="96012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1" y="2276856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240280"/>
            <a:ext cx="960120" cy="329184"/>
          </a:xfrm>
          <a:prstGeom prst="round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2276856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788920"/>
            <a:ext cx="45262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788920"/>
            <a:ext cx="64008" cy="96012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2953512"/>
            <a:ext cx="4142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AWS VPC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401568"/>
            <a:ext cx="41422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Successful • Last run 09:00 • 431 accounts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886200"/>
            <a:ext cx="452628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3886200"/>
            <a:ext cx="64008" cy="749808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050791"/>
            <a:ext cx="4142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Event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498848"/>
            <a:ext cx="41422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Expandable JSON metadata + approved Run Again identifier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17320"/>
            <a:ext cx="516636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64008" cy="3611880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5819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Audit /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029968"/>
            <a:ext cx="4782312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Track audit execution and connect each event to the generated evidence artifact.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240280"/>
            <a:ext cx="960120" cy="329184"/>
          </a:xfrm>
          <a:prstGeom prst="round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76856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2240280"/>
            <a:ext cx="100584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227685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2240280"/>
            <a:ext cx="914400" cy="329184"/>
          </a:xfrm>
          <a:prstGeom prst="round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27685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788920"/>
            <a:ext cx="45262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2788920"/>
            <a:ext cx="64008" cy="96012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2953512"/>
            <a:ext cx="4142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AWS VPC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401568"/>
            <a:ext cx="41422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Successful • Report available • 431 accounts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886200"/>
            <a:ext cx="452628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3886200"/>
            <a:ext cx="64008" cy="749808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4050791"/>
            <a:ext cx="4142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4498848"/>
            <a:ext cx="41422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Event JSON points to latest report artifact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F2B3C"/>
                </a:solidFill>
              </a:defRPr>
            </a:pPr>
            <a:r>
              <a:t>Separate success/failure event directories make event processing, retention, and future S3 integration straightforward.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Architecture: decouple collection from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AD5E4"/>
                </a:solidFill>
                <a:latin typeface="Aptos"/>
              </a:defRPr>
            </a:pPr>
            <a:r>
              <a:t>The dashboard consumes normalized data and event metadata; collectors can evolve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574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14300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SOURCE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AWS • Palo Alto • Wiz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20574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828800"/>
            <a:ext cx="64008" cy="1143000"/>
          </a:xfrm>
          <a:prstGeom prst="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99339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COLLECT /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441448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Python collectors</a:t>
            </a:r>
            <a:br/>
            <a:r>
              <a:t>Normalization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828800"/>
            <a:ext cx="20574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828800"/>
            <a:ext cx="64008" cy="114300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99339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2441448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SQLite / JSON</a:t>
            </a:r>
            <a:br/>
            <a:r>
              <a:t>Parsed datasets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828800"/>
            <a:ext cx="205740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828800"/>
            <a:ext cx="64008" cy="1143000"/>
          </a:xfrm>
          <a:prstGeom prst="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99339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2441448"/>
            <a:ext cx="1673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Flask / Jinja</a:t>
            </a:r>
            <a:br/>
            <a:r>
              <a:t>Search + views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828800"/>
            <a:ext cx="1188720" cy="114300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32720" y="1828800"/>
            <a:ext cx="64008" cy="1143000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43032" y="1993392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3032" y="2441448"/>
            <a:ext cx="8046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SOC</a:t>
            </a:r>
            <a:br/>
            <a:r>
              <a:t>Security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97480" y="2395728"/>
            <a:ext cx="320040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2395728"/>
            <a:ext cx="320039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2395728"/>
            <a:ext cx="320040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66960" y="2395728"/>
            <a:ext cx="320040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43200" y="4069080"/>
            <a:ext cx="2331720" cy="100584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4069080"/>
            <a:ext cx="64008" cy="1005840"/>
          </a:xfrm>
          <a:prstGeom prst="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4233672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468172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Automation / Audit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4069080"/>
            <a:ext cx="2331720" cy="1005840"/>
          </a:xfrm>
          <a:prstGeom prst="roundRect">
            <a:avLst/>
          </a:prstGeom>
          <a:solidFill>
            <a:srgbClr val="1D2B41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4069080"/>
            <a:ext cx="64008" cy="1005840"/>
          </a:xfrm>
          <a:prstGeom prst="rect">
            <a:avLst/>
          </a:prstGeom>
          <a:solidFill>
            <a:srgbClr val="BE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3872" y="4233672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OBJECT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3872" y="468172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Reports / artifacts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74920" y="4572000"/>
            <a:ext cx="457200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793992" y="3063240"/>
            <a:ext cx="0" cy="96012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B5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3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82A"/>
                </a:solidFill>
                <a:latin typeface="Aptos Display"/>
              </a:defRPr>
            </a:pPr>
            <a:r>
              <a:t>Built for scale without forcing a platform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919EAF"/>
                </a:solidFill>
                <a:latin typeface="Aptos"/>
              </a:defRPr>
            </a:pPr>
            <a:r>
              <a:t>The current local architecture is intentionally compatible with a future AWS-native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299923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Local Flask/Jinja application</a:t>
            </a:r>
            <a:br/>
            <a:br/>
            <a:r>
              <a:t>• SQLite + JSON</a:t>
            </a:r>
            <a:br/>
            <a:r>
              <a:t>• Existing AWS/Palo/Wiz data</a:t>
            </a:r>
            <a:br/>
            <a:r>
              <a:t>• Server-rendered UI</a:t>
            </a:r>
            <a:br/>
            <a:r>
              <a:t>• Fast analyst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64008" cy="3566160"/>
          </a:xfrm>
          <a:prstGeom prst="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8"/>
            <a:ext cx="299923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Independent collectors</a:t>
            </a:r>
            <a:br/>
            <a:br/>
            <a:r>
              <a:t>• Step Functions / Lambda</a:t>
            </a:r>
            <a:br/>
            <a:r>
              <a:t>• S3 event prefixes</a:t>
            </a:r>
            <a:br/>
            <a:r>
              <a:t>• Report artifact bucket</a:t>
            </a:r>
            <a:br/>
            <a:r>
              <a:t>• Event-driven ingestion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417320"/>
            <a:ext cx="338328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417320"/>
            <a:ext cx="64008" cy="3566160"/>
          </a:xfrm>
          <a:prstGeom prst="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2999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A"/>
                </a:solidFill>
                <a:latin typeface="Aptos"/>
              </a:defRPr>
            </a:pPr>
            <a:r>
              <a:t>Enterprise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29968"/>
            <a:ext cx="299923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B3C"/>
                </a:solidFill>
                <a:latin typeface="Aptos"/>
              </a:defRPr>
            </a:pPr>
            <a:r>
              <a:t>Private application tier</a:t>
            </a:r>
            <a:br/>
            <a:br/>
            <a:r>
              <a:t>• API / SSO friendly</a:t>
            </a:r>
            <a:br/>
            <a:r>
              <a:t>• Aurora/Postgres option</a:t>
            </a:r>
            <a:br/>
            <a:r>
              <a:t>• Independent data pipelines</a:t>
            </a:r>
            <a:br/>
            <a:r>
              <a:t>• Centralized security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6512" y="3182112"/>
            <a:ext cx="246888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3182112"/>
            <a:ext cx="246888" cy="0"/>
          </a:xfrm>
          <a:prstGeom prst="line">
            <a:avLst/>
          </a:prstGeom>
          <a:ln w="27940">
            <a:solidFill>
              <a:srgbClr val="919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53949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D182A"/>
                </a:solidFill>
              </a:defRPr>
            </a:pPr>
            <a:r>
              <a:t>Key principle: change the collectors and storage behind the platform without changing the analyst experience.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EAF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 Display"/>
              </a:defRPr>
            </a:pPr>
            <a:r>
              <a:t>What this enables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320040" cy="329184"/>
          </a:xfrm>
          <a:prstGeom prst="roundRect">
            <a:avLst/>
          </a:prstGeom>
          <a:solidFill>
            <a:srgbClr val="2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11095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56231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Faster investigations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56231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CDD9E8"/>
                </a:solidFill>
              </a:defRPr>
            </a:pPr>
            <a:r>
              <a:t>Start with an IP, account, SG, finding or policy and follow the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39"/>
            <a:ext cx="320040" cy="329184"/>
          </a:xfrm>
          <a:prstGeom prst="roundRect">
            <a:avLst/>
          </a:prstGeom>
          <a:solidFill>
            <a:srgbClr val="2D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5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6351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Less tool-hopping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16351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CDD9E8"/>
                </a:solidFill>
              </a:defRPr>
            </a:pPr>
            <a:r>
              <a:t>Bring cloud, network, findings and evidence into one analyst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320040" cy="329184"/>
          </a:xfrm>
          <a:prstGeom prst="roundRect">
            <a:avLst/>
          </a:prstGeom>
          <a:solidFill>
            <a:srgbClr val="2A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7647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Operational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76472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CDD9E8"/>
                </a:solidFill>
              </a:defRPr>
            </a:pPr>
            <a:r>
              <a:t>See automation and audit state alongside the security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54880"/>
            <a:ext cx="320040" cy="329184"/>
          </a:xfrm>
          <a:prstGeom prst="roundRect">
            <a:avLst/>
          </a:prstGeom>
          <a:solidFill>
            <a:srgbClr val="E0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91456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3659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 foundation for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736592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CDD9E8"/>
                </a:solidFill>
              </a:defRPr>
            </a:pPr>
            <a:r>
              <a:t>Use safe event identifiers today; map them to approved workflows tomorrow.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19EAF"/>
                </a:solidFill>
              </a:defRPr>
            </a:pPr>
            <a:r>
              <a:t>Infra Intel v21  •  Security &amp; Infrastructure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B5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